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Goal for today: by the end you can draw a full environment diagram by hand, including parent pointers. Remind them the midterm asks for exactly this and grades per binding, so partial credit is real. Ask who has seen a closure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this live on the board before showing the slide. Stress that x inside f1 shadows the global x — lookup stops at the first frame that has the name. Common student error: assuming lookup walks the call stack. It does not.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single most important slide of the week. Every closure question on the midterm reduces to this distinction. Have them say it back: parent is where it was defined, not where it was called.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Trace it slowly. add3 is bound to the adder function object, and that object carries a pointer to f1. When add3(4) runs, f2's parent is f1, so k+n finds n = 3 one hop up. Point out that f1 has returned but is not gone.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up. Tell them the practice set posts tonight and solutions Thursday. The single highest-yield thing they can do before the midterm is draw ten of these by hand without looking at the solution.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105156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Environment</a:t>
            </a:r>
            <a:b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</a:b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28803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61A · Week 3 · Higher-order functions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331012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FA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function remembers where it was born.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897880" y="1143000"/>
            <a:ext cx="2651760" cy="1234440"/>
          </a:xfrm>
          <a:prstGeom prst="roundRect">
            <a:avLst>
              <a:gd name="adj" fmla="val 4444"/>
            </a:avLst>
          </a:prstGeom>
          <a:solidFill>
            <a:srgbClr val="16403F"/>
          </a:solidFill>
          <a:ln w="15875">
            <a:solidFill>
              <a:srgbClr val="00A896"/>
            </a:solidFill>
            <a:prstDash val="solid"/>
          </a:ln>
          <a:effectLst>
            <a:outerShdw sx="100000" sy="100000" kx="0" ky="0" algn="bl" rotWithShape="0" blurRad="76200" dist="381" dir="5400000">
              <a:srgbClr val="9AA5A8">
                <a:alpha val="7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897880" y="11887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frame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07608" y="1453896"/>
            <a:ext cx="24323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make_adder  →  func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add3        →  func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897880" y="2697480"/>
            <a:ext cx="2651760" cy="1234440"/>
          </a:xfrm>
          <a:prstGeom prst="roundRect">
            <a:avLst>
              <a:gd name="adj" fmla="val 4444"/>
            </a:avLst>
          </a:prstGeom>
          <a:solidFill>
            <a:srgbClr val="16403F"/>
          </a:solidFill>
          <a:ln w="15875">
            <a:solidFill>
              <a:srgbClr val="00A896"/>
            </a:solidFill>
            <a:prstDash val="solid"/>
          </a:ln>
          <a:effectLst>
            <a:outerShdw sx="100000" sy="100000" kx="0" ky="0" algn="bl" rotWithShape="0" blurRad="76200" dist="381" dir="5400000">
              <a:srgbClr val="9AA5A8">
                <a:alpha val="7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897880" y="27432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make_adder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007608" y="3008376"/>
            <a:ext cx="24323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 =  3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E8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 = Global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223760" y="2395728"/>
            <a:ext cx="0" cy="274320"/>
          </a:xfrm>
          <a:prstGeom prst="line">
            <a:avLst/>
          </a:prstGeom>
          <a:noFill/>
          <a:ln w="22225">
            <a:solidFill>
              <a:srgbClr val="00A89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type="title"/>
          </p:nvPr>
        </p:nvSpPr>
        <p:spPr>
          <a:xfrm>
            <a:off x="548640" y="4572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C2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frame is</a:t>
            </a:r>
          </a:p>
          <a:p>
            <a:pPr indent="0" marL="0">
              <a:buNone/>
            </a:pPr>
            <a:r>
              <a:rPr lang="en-US" sz="3600" b="1" dirty="0">
                <a:solidFill>
                  <a:srgbClr val="1C2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why it has a parent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4480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frame is a table of name→value bindings, plus a link to its parent frame.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Calling a function creates a new frame.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lookup checks the current frame, then its parent, then upward to Global.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chain of frames reachable from here is the environment.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name isn't here, follow the parent link — never the caller.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40680" y="1234440"/>
            <a:ext cx="31546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381" dir="5400000">
              <a:srgbClr val="9AA5A8">
                <a:alpha val="35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40680" y="12801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frame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550408" y="1545336"/>
            <a:ext cx="29352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square  →  func square(x)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      →  10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40680" y="2880360"/>
            <a:ext cx="31546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381" dir="5400000">
              <a:srgbClr val="9AA5A8">
                <a:alpha val="3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5440680" y="292608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square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5550408" y="3191256"/>
            <a:ext cx="29352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 =  4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parent = Global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013448" y="2624328"/>
            <a:ext cx="0" cy="237744"/>
          </a:xfrm>
          <a:prstGeom prst="line">
            <a:avLst/>
          </a:prstGeom>
          <a:noFill/>
          <a:ln w="22225">
            <a:solidFill>
              <a:srgbClr val="0E7C8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C2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parent is the def frame, not the call site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3749040" cy="2926080"/>
          </a:xfrm>
          <a:prstGeom prst="roundRect">
            <a:avLst>
              <a:gd name="adj" fmla="val 2500"/>
            </a:avLst>
          </a:prstGeom>
          <a:solidFill>
            <a:srgbClr val="FBEDEC"/>
          </a:solidFill>
          <a:ln w="12700">
            <a:solidFill>
              <a:srgbClr val="C9736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44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9385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frame's parent is whichever frame was running when the call happened.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880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closures impossible to explain: the outer call has already returned.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371600"/>
            <a:ext cx="3749040" cy="2926080"/>
          </a:xfrm>
          <a:prstGeom prst="roundRect">
            <a:avLst>
              <a:gd name="adj" fmla="val 2500"/>
            </a:avLst>
          </a:prstGeom>
          <a:solidFill>
            <a:srgbClr val="E8F5F3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74920" y="15544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074920" y="193852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is fixed at def time — the frame that was active when the def statement ran.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074920" y="288036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0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why an inner function still sees the outer function's locals after it returns.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C2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Worked example: make_adder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4206240" cy="2148840"/>
          </a:xfrm>
          <a:prstGeom prst="roundRect">
            <a:avLst>
              <a:gd name="adj" fmla="val 2553"/>
            </a:avLst>
          </a:prstGeom>
          <a:solidFill>
            <a:srgbClr val="F4F6F6"/>
          </a:solidFill>
          <a:ln w="12700">
            <a:solidFill>
              <a:srgbClr val="D3DCD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325880"/>
            <a:ext cx="374904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make_adder(n):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adder(k):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k + n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adder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add3 = make_adder(3)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add3(4)   # 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47472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survives because adder's parent is f1, and f1 is still reachable from add3.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166360" y="1143000"/>
            <a:ext cx="342900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5875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381" dir="5400000">
              <a:srgbClr val="9AA5A8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5166360" y="11887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frame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276088" y="1453896"/>
            <a:ext cx="32095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make_adder → func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add3       → func adder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166360" y="2377440"/>
            <a:ext cx="34290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381" dir="5400000">
              <a:srgbClr val="9AA5A8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5166360" y="24231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f1: make_adder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276088" y="2688336"/>
            <a:ext cx="32095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 = 3   parent = Global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166360" y="3520440"/>
            <a:ext cx="34290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0E7C86"/>
            </a:solidFill>
            <a:prstDash val="solid"/>
          </a:ln>
          <a:effectLst>
            <a:outerShdw sx="100000" sy="100000" kx="0" ky="0" algn="bl" rotWithShape="0" blurRad="76200" dist="381" dir="5400000">
              <a:srgbClr val="9AA5A8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5166360" y="35661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f2: adder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276088" y="3831336"/>
            <a:ext cx="320954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C2B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4   parent = f1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0" y="2212848"/>
            <a:ext cx="0" cy="146304"/>
          </a:xfrm>
          <a:prstGeom prst="line">
            <a:avLst/>
          </a:prstGeom>
          <a:noFill/>
          <a:ln w="2032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858000" y="3355848"/>
            <a:ext cx="0" cy="146304"/>
          </a:xfrm>
          <a:prstGeom prst="line">
            <a:avLst/>
          </a:prstGeom>
          <a:noFill/>
          <a:ln w="20320">
            <a:solidFill>
              <a:srgbClr val="0E7C86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502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the exam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94360" y="1371600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94360" y="1371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43000" y="13533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every frame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645920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code, produce the full diagram. Partial credit is awarded per binding.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94360" y="2212848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2212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1945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parent pointers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143000" y="2487168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unlabelled or wrong parent loses the point even if the values are right.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94360" y="3054096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3035808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a closure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43000" y="3328416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sentence: why the returned function still sees n after make_adder returned.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94360" y="3895344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3895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2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3877056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compose(f, g)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4169664"/>
            <a:ext cx="7406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4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a function x → f(g(x)). Higher-order in both directions.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2026-09-04T08:41:08Z</dcterms:created>
  <dcterms:modified xsi:type="dcterms:W3CDTF">2026-09-04T08:41:08Z</dcterms:modified>
</cp:coreProperties>
</file>